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Validation Macro F1</c:v>
                </c:pt>
              </c:strCache>
            </c:strRef>
          </c:tx>
          <c:spPr>
            <a:solidFill>
              <a:srgbClr val="F59E0B"/>
            </a:solidFill>
          </c:spPr>
          <c:cat>
            <c:strRef>
              <c:f>Sheet1!$A$2:$A$6</c:f>
              <c:strCache>
                <c:ptCount val="5"/>
                <c:pt idx="0">
                  <c:v>Exp 1</c:v>
                </c:pt>
                <c:pt idx="1">
                  <c:v>Exp 2</c:v>
                </c:pt>
                <c:pt idx="2">
                  <c:v>Exp 3</c:v>
                </c:pt>
                <c:pt idx="3">
                  <c:v>Exp 4</c:v>
                </c:pt>
                <c:pt idx="4">
                  <c:v>SVM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0.4484</c:v>
                </c:pt>
                <c:pt idx="1">
                  <c:v>0.4873</c:v>
                </c:pt>
                <c:pt idx="2">
                  <c:v>0.5161</c:v>
                </c:pt>
                <c:pt idx="3">
                  <c:v>0.4794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Test Macro F1</c:v>
                </c:pt>
              </c:strCache>
            </c:strRef>
          </c:tx>
          <c:spPr>
            <a:solidFill>
              <a:srgbClr val="4F46E5"/>
            </a:solidFill>
          </c:spPr>
          <c:cat>
            <c:strRef>
              <c:f>Sheet1!$A$2:$A$6</c:f>
              <c:strCache>
                <c:ptCount val="5"/>
                <c:pt idx="0">
                  <c:v>Exp 1</c:v>
                </c:pt>
                <c:pt idx="1">
                  <c:v>Exp 2</c:v>
                </c:pt>
                <c:pt idx="2">
                  <c:v>Exp 3</c:v>
                </c:pt>
                <c:pt idx="3">
                  <c:v>Exp 4</c:v>
                </c:pt>
                <c:pt idx="4">
                  <c:v>SVM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0.4292</c:v>
                </c:pt>
                <c:pt idx="1">
                  <c:v>0.5231</c:v>
                </c:pt>
                <c:pt idx="2">
                  <c:v>0.5307</c:v>
                </c:pt>
                <c:pt idx="3">
                  <c:v>0.4783</c:v>
                </c:pt>
                <c:pt idx="4">
                  <c:v>0.4464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7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project: recognise 8 emotions from speech using MFCC features and a CNN-BiLSTM-Attention network. Headline numbers are on unseen test actors.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Emotion is carried by how we speak (pitch, energy, timbre, rhythm), not only by words. The task: classify a speech clip into one of 8 emotions.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objective maps to a module of the code base and is covered by automated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1,440 clips, 24 actors (12F/12M), 2 sentences, 8 emotions. Neutral has a single intensity, so 96 clips; others have 192. Split is by actor to avoid speaker leakage.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Raw audio -&gt; preprocessing -&gt; MFCC -&gt; normalisation -&gt; CNN-BiLSTM-Attention -&gt; emotion. Each stage is a tested Python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MFCC describe the voice timbre per frame; delta features add how it changes; delta-delta adds how that change accelerates.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Compact network with 79,080 parameters. CNN finds local spectral patterns, BiLSTM models context both ways, attention weights the most informative frames.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Class weights compensate for fewer neutral clips. The best checkpoint is the epoch with the highest validation Macro F1.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Test set = 4 unseen actors (240 clips). Validation Macro F1 was used to choose the final model. Experiment 4 (stronger dropout) was trained once on the real data and is included in the comparison.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Observed errors (counts from the test confusion matrix). Explanations are hypotheses, not proven.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clearly: acted speech, 4 test actors, one split. The model must not be presented as understanding human emotion in general.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Complete pipeline: data -&gt; MFCC -&gt; CNN-BiLSTM-Attention -&gt; F1 evaluation, with tests, inference script and documentation.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17720"/>
            <a:ext cx="12191695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C7D2FE"/>
                </a:solidFill>
                <a:latin typeface="Calibri"/>
              </a:rPr>
              <a:t>INDIVIDUAL MAJOR PROJECT  |  MACHINE LEARNING INTERNSHIP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Calibri"/>
              </a:rPr>
              <a:t>Emotion Recognition in Speech</a:t>
            </a:r>
          </a:p>
          <a:p>
            <a:pPr algn="l"/>
            <a:r>
              <a:rPr sz="4200" b="1">
                <a:solidFill>
                  <a:srgbClr val="FFFFFF"/>
                </a:solidFill>
                <a:latin typeface="Calibri"/>
              </a:rPr>
              <a:t>using MFCC Features and Deep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461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E0E7FF"/>
                </a:solidFill>
                <a:latin typeface="Calibri"/>
              </a:rPr>
              <a:t>CNN-BiLSTM-Attention model  |  RAVDESS  |  evaluated with Macro F1 on unseen actors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983480"/>
            <a:ext cx="2286000" cy="1097280"/>
          </a:xfrm>
          <a:prstGeom prst="round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07492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0.531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62356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7D2FE"/>
                </a:solidFill>
                <a:latin typeface="Calibri"/>
              </a:rPr>
              <a:t>test Macro F1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7560" y="4983480"/>
            <a:ext cx="2286000" cy="1097280"/>
          </a:xfrm>
          <a:prstGeom prst="round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507492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56.7%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562356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7D2FE"/>
                </a:solidFill>
                <a:latin typeface="Calibri"/>
              </a:rPr>
              <a:t>test accuracy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0" y="4983480"/>
            <a:ext cx="2286000" cy="1097280"/>
          </a:xfrm>
          <a:prstGeom prst="round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507492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79,080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5623560"/>
            <a:ext cx="2286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7D2FE"/>
                </a:solidFill>
                <a:latin typeface="Calibri"/>
              </a:rPr>
              <a:t>parameters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5074920"/>
            <a:ext cx="3108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>
                <a:solidFill>
                  <a:srgbClr val="FFFFFF"/>
                </a:solidFill>
                <a:latin typeface="Calibri"/>
              </a:rPr>
              <a:t>Presented by Ronia Rosario K</a:t>
            </a:r>
          </a:p>
          <a:p>
            <a:pPr algn="r"/>
            <a:r>
              <a:rPr sz="1600" b="0">
                <a:solidFill>
                  <a:srgbClr val="FFFFFF"/>
                </a:solidFill>
                <a:latin typeface="Calibri"/>
              </a:rPr>
              <a:t>Machine Learning Internship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4F46E5"/>
                </a:solidFill>
                <a:latin typeface="Calibri"/>
              </a:rPr>
              <a:t>WHY THIS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Calibri"/>
              </a:rP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Speech Emotion Recognition  |  MFCC + CNN-BiLSTM-Attention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7395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10972800" cy="114300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37360"/>
            <a:ext cx="82296" cy="86868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37360"/>
            <a:ext cx="104241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0">
                <a:solidFill>
                  <a:srgbClr val="0F172A"/>
                </a:solidFill>
                <a:latin typeface="Calibri"/>
              </a:rPr>
              <a:t>Develop a machine learning system for emotion recognition in speech using MFCC features and a deep learning model, including data collection, preprocessing, model implementation and evaluation using F1-score.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017520"/>
            <a:ext cx="3566160" cy="310896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182112"/>
            <a:ext cx="73152" cy="277977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20040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libri"/>
              </a:rPr>
              <a:t>Why it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639312"/>
            <a:ext cx="3108960" cy="2377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Call-centre analytics</a:t>
            </a:r>
          </a:p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Tutoring and wellbeing tools</a:t>
            </a:r>
          </a:p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Human-robot interaction</a:t>
            </a:r>
          </a:p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Accessibility support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3017520"/>
            <a:ext cx="3566160" cy="310896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3182112"/>
            <a:ext cx="73152" cy="27797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17720" y="320040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libri"/>
              </a:rPr>
              <a:t>Why it is hard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3639312"/>
            <a:ext cx="3108960" cy="2377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Emotion is subjective</a:t>
            </a:r>
          </a:p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Every speaker sounds different</a:t>
            </a:r>
          </a:p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Public datasets are small</a:t>
            </a:r>
          </a:p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Models can memorise voices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3017520"/>
            <a:ext cx="3566160" cy="310896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6720" y="3182112"/>
            <a:ext cx="73152" cy="2779776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320040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libri"/>
              </a:rPr>
              <a:t>Our approach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3639312"/>
            <a:ext cx="3108960" cy="2377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MFCC + delta features</a:t>
            </a:r>
          </a:p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CNN-BiLSTM-Attention network</a:t>
            </a:r>
          </a:p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Unseen-actor evaluation</a:t>
            </a:r>
          </a:p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Macro F1 as the main metric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4F46E5"/>
                </a:solidFill>
                <a:latin typeface="Calibri"/>
              </a:rPr>
              <a:t>WHAT WE SET OUT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Calibri"/>
              </a:rPr>
              <a:t>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Speech Emotion Recognition  |  MFCC + CNN-BiLSTM-Attention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7395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3566160" cy="21488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810512"/>
            <a:ext cx="73152" cy="181965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2880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libri"/>
              </a:rPr>
              <a:t>1  Data collection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67712"/>
            <a:ext cx="310896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1E293B"/>
                </a:solidFill>
                <a:latin typeface="Calibri"/>
              </a:rPr>
              <a:t>RAVDESS speech corpus, labels parsed from filenames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645920"/>
            <a:ext cx="3566160" cy="21488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810512"/>
            <a:ext cx="73152" cy="1819656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182880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libri"/>
              </a:rPr>
              <a:t>2  Preprocessing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267712"/>
            <a:ext cx="310896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1E293B"/>
                </a:solidFill>
                <a:latin typeface="Calibri"/>
              </a:rPr>
              <a:t>Resample, trim, normalise, fixed 3 s window, augment (train only)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59" y="1645920"/>
            <a:ext cx="3566160" cy="21488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59" y="1810512"/>
            <a:ext cx="73152" cy="181965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182880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libri"/>
              </a:rPr>
              <a:t>3  MFCC features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267712"/>
            <a:ext cx="310896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1E293B"/>
                </a:solidFill>
                <a:latin typeface="Calibri"/>
              </a:rPr>
              <a:t>40 MFCC + delta + delta-delta = 120 features x 130 frames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023360"/>
            <a:ext cx="3566160" cy="21488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187952"/>
            <a:ext cx="73152" cy="181965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20624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libri"/>
              </a:rPr>
              <a:t>4  Deep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645152"/>
            <a:ext cx="310896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1E293B"/>
                </a:solidFill>
                <a:latin typeface="Calibri"/>
              </a:rPr>
              <a:t>CNN -&gt; BiLSTM -&gt; attention -&gt; softmax over 8 emotions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89120" y="4023360"/>
            <a:ext cx="3566160" cy="21488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89120" y="4187952"/>
            <a:ext cx="73152" cy="1819656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3440" y="420624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libri"/>
              </a:rPr>
              <a:t>5  Baseline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4645152"/>
            <a:ext cx="310896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1E293B"/>
                </a:solidFill>
                <a:latin typeface="Calibri"/>
              </a:rPr>
              <a:t>RBF-SVM on MFCC statistics for fair comparison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38159" y="4023360"/>
            <a:ext cx="3566160" cy="21488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38159" y="4187952"/>
            <a:ext cx="73152" cy="181965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80" y="420624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libri"/>
              </a:rPr>
              <a:t>6  F1 evaluation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4645152"/>
            <a:ext cx="310896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>
                <a:solidFill>
                  <a:srgbClr val="1E293B"/>
                </a:solidFill>
                <a:latin typeface="Calibri"/>
              </a:rPr>
              <a:t>Macro / weighted / per-class F1 on held-out actors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4F46E5"/>
                </a:solidFill>
                <a:latin typeface="Calibri"/>
              </a:rPr>
              <a:t>DATA COLLECTION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Calibri"/>
              </a:rPr>
              <a:t>Dataset: RAVDESS speech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Speech Emotion Recognition  |  MFCC + CNN-BiLSTM-Attention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7395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1920240" cy="141732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1920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1,440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514600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clips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1600200"/>
            <a:ext cx="1920240" cy="1417320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1783080"/>
            <a:ext cx="1920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514600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actors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46320" y="1600200"/>
            <a:ext cx="1920240" cy="141732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46320" y="1783080"/>
            <a:ext cx="1920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2514600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emotions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461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Calibri"/>
              </a:rPr>
              <a:t>Actor-independent split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703320"/>
            <a:ext cx="4169663" cy="77724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703320"/>
            <a:ext cx="4169663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Train: 960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526280"/>
            <a:ext cx="41696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  <a:latin typeface="Calibri"/>
              </a:rPr>
              <a:t>actors 1-16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46320" y="3703320"/>
            <a:ext cx="1014983" cy="7772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3703320"/>
            <a:ext cx="1014983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Val: 240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4526280"/>
            <a:ext cx="10149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  <a:latin typeface="Calibri"/>
              </a:rPr>
              <a:t>actors 17-20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97879" y="3703320"/>
            <a:ext cx="1014983" cy="77724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97879" y="3703320"/>
            <a:ext cx="1014983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Test: 240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7879" y="4526280"/>
            <a:ext cx="101498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64748B"/>
                </a:solidFill>
                <a:latin typeface="Calibri"/>
              </a:rPr>
              <a:t>actors 21-24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029200"/>
            <a:ext cx="6309360" cy="4572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600"/>
              </a:spcAft>
            </a:pPr>
            <a:r>
              <a:rPr sz="800">
                <a:solidFill>
                  <a:srgbClr val="4F46E5"/>
                </a:solidFill>
              </a:rPr>
              <a:t>■  </a:t>
            </a:r>
            <a:r>
              <a:rPr sz="1400">
                <a:solidFill>
                  <a:srgbClr val="1E293B"/>
                </a:solidFill>
                <a:latin typeface="Calibri"/>
              </a:rPr>
              <a:t>No actor appears in two partitions (asserted in code)</a:t>
            </a:r>
          </a:p>
          <a:p>
            <a:pPr>
              <a:spcAft>
                <a:spcPts val="600"/>
              </a:spcAft>
            </a:pPr>
            <a:r>
              <a:rPr sz="800">
                <a:solidFill>
                  <a:srgbClr val="4F46E5"/>
                </a:solidFill>
              </a:rPr>
              <a:t>■  </a:t>
            </a:r>
            <a:r>
              <a:rPr sz="1400">
                <a:solidFill>
                  <a:srgbClr val="1E293B"/>
                </a:solidFill>
                <a:latin typeface="Calibri"/>
              </a:rPr>
              <a:t>Training grows to 2,880 samples with augmentation; val/test are never augmented</a:t>
            </a:r>
          </a:p>
        </p:txBody>
      </p:sp>
      <p:pic>
        <p:nvPicPr>
          <p:cNvPr id="27" name="Picture 26" descr="class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645920"/>
            <a:ext cx="4480560" cy="190423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223760" y="3840480"/>
            <a:ext cx="4480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Labels: neutral, calm, happy, sad, angry, fearful, disgust, surprised (fixed order used everywhere).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4F46E5"/>
                </a:solidFill>
                <a:latin typeface="Calibri"/>
              </a:rPr>
              <a:t>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Calibri"/>
              </a:rPr>
              <a:t>Proposed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Speech Emotion Recognition  |  MFCC + CNN-BiLSTM-Attention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7395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5</a:t>
            </a:r>
          </a:p>
        </p:txBody>
      </p:sp>
      <p:pic>
        <p:nvPicPr>
          <p:cNvPr id="7" name="Picture 6" descr="diagram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54480"/>
            <a:ext cx="10881360" cy="235762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" y="3931920"/>
            <a:ext cx="3566160" cy="228600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4096511"/>
            <a:ext cx="73152" cy="195681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11480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libri"/>
              </a:rPr>
              <a:t>No data leakage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53712"/>
            <a:ext cx="31089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1E293B"/>
                </a:solidFill>
                <a:latin typeface="Calibri"/>
              </a:rPr>
              <a:t>Normalisation statistics come from training data only; augmentation only touches training clips.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3931920"/>
            <a:ext cx="3566160" cy="228600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4096511"/>
            <a:ext cx="73152" cy="1956816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11480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libri"/>
              </a:rPr>
              <a:t>Unseen-actor testing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4553712"/>
            <a:ext cx="31089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1E293B"/>
                </a:solidFill>
                <a:latin typeface="Calibri"/>
              </a:rPr>
              <a:t>Test actors 21-24 never appear in training or tuning, so scores reflect new voices.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3931920"/>
            <a:ext cx="3566160" cy="228600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4096511"/>
            <a:ext cx="73152" cy="19568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411480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libri"/>
              </a:rPr>
              <a:t>Validation-based selection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4553712"/>
            <a:ext cx="31089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1E293B"/>
                </a:solidFill>
                <a:latin typeface="Calibri"/>
              </a:rPr>
              <a:t>Checkpoint, early stopping and final-model choice use validation Macro F1, not the test set.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4F46E5"/>
                </a:solidFill>
                <a:latin typeface="Calibri"/>
              </a:rPr>
              <a:t>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Calibri"/>
              </a:rPr>
              <a:t>Preprocessing and MFCC extraction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Speech Emotion Recognition  |  MFCC + CNN-BiLSTM-Attention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7395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5760720" cy="4572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900"/>
              </a:spcAft>
            </a:pPr>
            <a:r>
              <a:rPr sz="1000">
                <a:solidFill>
                  <a:srgbClr val="4F46E5"/>
                </a:solidFill>
              </a:rPr>
              <a:t>■  </a:t>
            </a:r>
            <a:r>
              <a:rPr b="1" sz="1600">
                <a:solidFill>
                  <a:srgbClr val="1E293B"/>
                </a:solidFill>
                <a:latin typeface="Calibri"/>
              </a:rPr>
              <a:t>Resample</a:t>
            </a:r>
            <a:r>
              <a:rPr sz="1600">
                <a:solidFill>
                  <a:srgbClr val="1E293B"/>
                </a:solidFill>
                <a:latin typeface="Calibri"/>
              </a:rPr>
              <a:t>  to 22,050 Hz mono</a:t>
            </a:r>
          </a:p>
          <a:p>
            <a:pPr>
              <a:spcAft>
                <a:spcPts val="900"/>
              </a:spcAft>
            </a:pPr>
            <a:r>
              <a:rPr sz="1000">
                <a:solidFill>
                  <a:srgbClr val="4F46E5"/>
                </a:solidFill>
              </a:rPr>
              <a:t>■  </a:t>
            </a:r>
            <a:r>
              <a:rPr b="1" sz="1600">
                <a:solidFill>
                  <a:srgbClr val="1E293B"/>
                </a:solidFill>
                <a:latin typeface="Calibri"/>
              </a:rPr>
              <a:t>Trim silence</a:t>
            </a:r>
            <a:r>
              <a:rPr sz="1600">
                <a:solidFill>
                  <a:srgbClr val="1E293B"/>
                </a:solidFill>
                <a:latin typeface="Calibri"/>
              </a:rPr>
              <a:t>  (30 dB) and peak-normalise</a:t>
            </a:r>
          </a:p>
          <a:p>
            <a:pPr>
              <a:spcAft>
                <a:spcPts val="900"/>
              </a:spcAft>
            </a:pPr>
            <a:r>
              <a:rPr sz="1000">
                <a:solidFill>
                  <a:srgbClr val="4F46E5"/>
                </a:solidFill>
              </a:rPr>
              <a:t>■  </a:t>
            </a:r>
            <a:r>
              <a:rPr b="1" sz="1600">
                <a:solidFill>
                  <a:srgbClr val="1E293B"/>
                </a:solidFill>
                <a:latin typeface="Calibri"/>
              </a:rPr>
              <a:t>Fixed window</a:t>
            </a:r>
            <a:r>
              <a:rPr sz="1600">
                <a:solidFill>
                  <a:srgbClr val="1E293B"/>
                </a:solidFill>
                <a:latin typeface="Calibri"/>
              </a:rPr>
              <a:t>  of 3 s (crop / zero-pad)</a:t>
            </a:r>
          </a:p>
          <a:p>
            <a:pPr>
              <a:spcAft>
                <a:spcPts val="900"/>
              </a:spcAft>
            </a:pPr>
            <a:r>
              <a:rPr sz="1000">
                <a:solidFill>
                  <a:srgbClr val="4F46E5"/>
                </a:solidFill>
              </a:rPr>
              <a:t>■  </a:t>
            </a:r>
            <a:r>
              <a:rPr b="1" sz="1600">
                <a:solidFill>
                  <a:srgbClr val="1E293B"/>
                </a:solidFill>
                <a:latin typeface="Calibri"/>
              </a:rPr>
              <a:t>MFCC</a:t>
            </a:r>
            <a:r>
              <a:rPr sz="1600">
                <a:solidFill>
                  <a:srgbClr val="1E293B"/>
                </a:solidFill>
                <a:latin typeface="Calibri"/>
              </a:rPr>
              <a:t>  40 coefficients, FFT 2048, hop 512, 128 mel bands</a:t>
            </a:r>
          </a:p>
          <a:p>
            <a:pPr>
              <a:spcAft>
                <a:spcPts val="900"/>
              </a:spcAft>
            </a:pPr>
            <a:r>
              <a:rPr sz="1000">
                <a:solidFill>
                  <a:srgbClr val="4F46E5"/>
                </a:solidFill>
              </a:rPr>
              <a:t>■  </a:t>
            </a:r>
            <a:r>
              <a:rPr b="1" sz="1600">
                <a:solidFill>
                  <a:srgbClr val="1E293B"/>
                </a:solidFill>
                <a:latin typeface="Calibri"/>
              </a:rPr>
              <a:t>Delta + delta-delta</a:t>
            </a:r>
            <a:r>
              <a:rPr sz="1600">
                <a:solidFill>
                  <a:srgbClr val="1E293B"/>
                </a:solidFill>
                <a:latin typeface="Calibri"/>
              </a:rPr>
              <a:t>  adds speed and acceleration of each coefficient</a:t>
            </a:r>
          </a:p>
          <a:p>
            <a:pPr>
              <a:spcAft>
                <a:spcPts val="900"/>
              </a:spcAft>
            </a:pPr>
            <a:r>
              <a:rPr sz="1000">
                <a:solidFill>
                  <a:srgbClr val="4F46E5"/>
                </a:solidFill>
              </a:rPr>
              <a:t>■  </a:t>
            </a:r>
            <a:r>
              <a:rPr b="1" sz="1600">
                <a:solidFill>
                  <a:srgbClr val="1E293B"/>
                </a:solidFill>
                <a:latin typeface="Calibri"/>
              </a:rPr>
              <a:t>Tensor</a:t>
            </a:r>
            <a:r>
              <a:rPr sz="1600">
                <a:solidFill>
                  <a:srgbClr val="1E293B"/>
                </a:solidFill>
                <a:latin typeface="Calibri"/>
              </a:rPr>
              <a:t>  130 frames x 120 features per clip</a:t>
            </a:r>
          </a:p>
          <a:p>
            <a:pPr>
              <a:spcAft>
                <a:spcPts val="900"/>
              </a:spcAft>
            </a:pPr>
            <a:r>
              <a:rPr sz="1000">
                <a:solidFill>
                  <a:srgbClr val="4F46E5"/>
                </a:solidFill>
              </a:rPr>
              <a:t>■  </a:t>
            </a:r>
            <a:r>
              <a:rPr b="1" sz="1600">
                <a:solidFill>
                  <a:srgbClr val="1E293B"/>
                </a:solidFill>
                <a:latin typeface="Calibri"/>
              </a:rPr>
              <a:t>Standardise</a:t>
            </a:r>
            <a:r>
              <a:rPr sz="1600">
                <a:solidFill>
                  <a:srgbClr val="1E293B"/>
                </a:solidFill>
                <a:latin typeface="Calibri"/>
              </a:rPr>
              <a:t>  with training mean / std saved to norm.npz</a:t>
            </a:r>
          </a:p>
        </p:txBody>
      </p:sp>
      <p:pic>
        <p:nvPicPr>
          <p:cNvPr id="8" name="Picture 7" descr="mfcc_examp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45920"/>
            <a:ext cx="5120640" cy="204825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583680" y="4251960"/>
            <a:ext cx="5120640" cy="192024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0" y="4416552"/>
            <a:ext cx="73152" cy="159105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443484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libri"/>
              </a:rPr>
              <a:t>Augmentation (train only)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4873752"/>
            <a:ext cx="4663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1E293B"/>
                </a:solidFill>
                <a:latin typeface="Calibri"/>
              </a:rPr>
              <a:t>2 extra copies per clip: noise, pitch +/-2 semitones, time stretch 0.9-1.1x or time shift.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4F46E5"/>
                </a:solidFill>
                <a:latin typeface="Calibri"/>
              </a:rPr>
              <a:t>CNN + BILSTM + ATTENTION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Calibri"/>
              </a:rPr>
              <a:t>Model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Speech Emotion Recognition  |  MFCC + CNN-BiLSTM-Attention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7395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7</a:t>
            </a:r>
          </a:p>
        </p:txBody>
      </p:sp>
      <p:pic>
        <p:nvPicPr>
          <p:cNvPr id="7" name="Picture 6" descr="diagram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08760"/>
            <a:ext cx="10881360" cy="253898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40080" y="3977639"/>
            <a:ext cx="3566160" cy="224028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4142231"/>
            <a:ext cx="73152" cy="1911096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16052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libri"/>
              </a:rPr>
              <a:t>CNN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99431"/>
            <a:ext cx="310896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1E293B"/>
                </a:solidFill>
                <a:latin typeface="Calibri"/>
              </a:rPr>
              <a:t>2 Conv1D blocks (32 and 64 filters) with batch norm, ReLU, pooling and dropout.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3977639"/>
            <a:ext cx="3566160" cy="224028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4142231"/>
            <a:ext cx="73152" cy="191109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416052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libri"/>
              </a:rPr>
              <a:t>BiLSTM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4599431"/>
            <a:ext cx="310896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1E293B"/>
                </a:solidFill>
                <a:latin typeface="Calibri"/>
              </a:rPr>
              <a:t>48 units per direction read the sequence forwards and backwards.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3977639"/>
            <a:ext cx="3566160" cy="224028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4142231"/>
            <a:ext cx="73152" cy="191109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416052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libri"/>
              </a:rPr>
              <a:t>Attention + softmax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4599431"/>
            <a:ext cx="310896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1E293B"/>
                </a:solidFill>
                <a:latin typeface="Calibri"/>
              </a:rPr>
              <a:t>Learned frame weights give one utterance vector; Dense(64) and softmax output 8 probabilities.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4F46E5"/>
                </a:solidFill>
                <a:latin typeface="Calibri"/>
              </a:rPr>
              <a:t>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Calibri"/>
              </a:rPr>
              <a:t>Training and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Speech Emotion Recognition  |  MFCC + CNN-BiLSTM-Attention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7395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45920"/>
            <a:ext cx="5394960" cy="548640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645920"/>
            <a:ext cx="19202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4F46E5"/>
                </a:solidFill>
                <a:latin typeface="Calibri"/>
              </a:rPr>
              <a:t>Optimiser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645920"/>
            <a:ext cx="3383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Calibri"/>
              </a:rPr>
              <a:t>Adam, lr 1e-3, halved on plateau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67712"/>
            <a:ext cx="539496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267712"/>
            <a:ext cx="19202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4F46E5"/>
                </a:solidFill>
                <a:latin typeface="Calibri"/>
              </a:rPr>
              <a:t>Loss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51760" y="2267712"/>
            <a:ext cx="3383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Calibri"/>
              </a:rPr>
              <a:t>Cross-entropy + class weights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889504"/>
            <a:ext cx="5394960" cy="548640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2889504"/>
            <a:ext cx="19202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4F46E5"/>
                </a:solidFill>
                <a:latin typeface="Calibri"/>
              </a:rPr>
              <a:t>Batch / epochs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51760" y="2889504"/>
            <a:ext cx="3383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Calibri"/>
              </a:rPr>
              <a:t>32 / up to 60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511296"/>
            <a:ext cx="539496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511296"/>
            <a:ext cx="19202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4F46E5"/>
                </a:solidFill>
                <a:latin typeface="Calibri"/>
              </a:rPr>
              <a:t>Early stopping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51760" y="3511296"/>
            <a:ext cx="3383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Calibri"/>
              </a:rPr>
              <a:t>12 epochs on val Macro F1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133088"/>
            <a:ext cx="5394960" cy="548640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133088"/>
            <a:ext cx="19202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4F46E5"/>
                </a:solidFill>
                <a:latin typeface="Calibri"/>
              </a:rPr>
              <a:t>Best epoch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4133088"/>
            <a:ext cx="3383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Calibri"/>
              </a:rPr>
              <a:t>12 of 24 run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754880"/>
            <a:ext cx="5394960" cy="548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4754880"/>
            <a:ext cx="19202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4F46E5"/>
                </a:solidFill>
                <a:latin typeface="Calibri"/>
              </a:rPr>
              <a:t>Seed / time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51760" y="4754880"/>
            <a:ext cx="3383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Calibri"/>
              </a:rPr>
              <a:t>42 / 170 s CPU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5376672"/>
            <a:ext cx="5394960" cy="548640"/>
          </a:xfrm>
          <a:prstGeom prst="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376672"/>
            <a:ext cx="19202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4F46E5"/>
                </a:solidFill>
                <a:latin typeface="Calibri"/>
              </a:rPr>
              <a:t>Metrics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51760" y="5376672"/>
            <a:ext cx="3383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>
                <a:solidFill>
                  <a:srgbClr val="1E293B"/>
                </a:solidFill>
                <a:latin typeface="Calibri"/>
              </a:rPr>
              <a:t>Macro F1 (main), weighted F1, per-class, confusion matrix</a:t>
            </a:r>
          </a:p>
        </p:txBody>
      </p:sp>
      <p:pic>
        <p:nvPicPr>
          <p:cNvPr id="28" name="Picture 27" descr="training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45920"/>
            <a:ext cx="5394960" cy="2050085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309360" y="3977639"/>
            <a:ext cx="5394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1E293B"/>
                </a:solidFill>
                <a:latin typeface="Calibri"/>
              </a:rPr>
              <a:t>Validation loss stops improving after about epoch 12; the checkpoint from the best validation Macro F1 epoch is kept, which limits over-fitting.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4F46E5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Calibri"/>
              </a:rPr>
              <a:t>Results and baseline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Speech Emotion Recognition  |  MFCC + CNN-BiLSTM-Attention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7395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9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40080" y="1600200"/>
          <a:ext cx="6766560" cy="4480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680960" y="1600200"/>
            <a:ext cx="1920240" cy="141732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783080"/>
            <a:ext cx="1920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0.531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2514600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Experiment 3 Macro F1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692640" y="1600200"/>
            <a:ext cx="1920240" cy="1417320"/>
          </a:xfrm>
          <a:prstGeom prst="round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0" y="1783080"/>
            <a:ext cx="1920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56.7%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2514600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test accuracy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3154680"/>
            <a:ext cx="1920240" cy="1417320"/>
          </a:xfrm>
          <a:prstGeom prst="round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3337560"/>
            <a:ext cx="1920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0.446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069080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SVM baseline Macro F1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92640" y="3154680"/>
            <a:ext cx="1920240" cy="1417320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0" y="3337560"/>
            <a:ext cx="1920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Calibri"/>
              </a:rPr>
              <a:t>+0.084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4069080"/>
            <a:ext cx="1920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Macro F1 vs SVM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54880"/>
            <a:ext cx="39319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Weighted F1 0.538  |  macro precision 0.574  |  macro recall 0.574</a:t>
            </a:r>
          </a:p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Small test set: differences of a few points between experiments are not conclusive.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4F46E5"/>
                </a:solidFill>
                <a:latin typeface="Calibr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Calibri"/>
              </a:rPr>
              <a:t>Confusion matrix and error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Speech Emotion Recognition  |  MFCC + CNN-BiLSTM-Attention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7395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10</a:t>
            </a:r>
          </a:p>
        </p:txBody>
      </p:sp>
      <p:pic>
        <p:nvPicPr>
          <p:cNvPr id="7" name="Picture 6" descr="final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508760"/>
            <a:ext cx="5815584" cy="4846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155448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Calibri"/>
              </a:rPr>
              <a:t>What the model gets right and wrong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011680"/>
            <a:ext cx="5394960" cy="4572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800">
                <a:solidFill>
                  <a:srgbClr val="4F46E5"/>
                </a:solidFill>
              </a:rPr>
              <a:t>■  </a:t>
            </a:r>
            <a:r>
              <a:rPr b="1" sz="1400">
                <a:solidFill>
                  <a:srgbClr val="1E293B"/>
                </a:solidFill>
                <a:latin typeface="Calibri"/>
              </a:rPr>
              <a:t>Best:</a:t>
            </a:r>
            <a:r>
              <a:rPr sz="1400">
                <a:solidFill>
                  <a:srgbClr val="1E293B"/>
                </a:solidFill>
                <a:latin typeface="Calibri"/>
              </a:rPr>
              <a:t>  surprised (F1 0.806), angry recall 0.906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4F46E5"/>
                </a:solidFill>
              </a:rPr>
              <a:t>■  </a:t>
            </a:r>
            <a:r>
              <a:rPr b="1" sz="1400">
                <a:solidFill>
                  <a:srgbClr val="1E293B"/>
                </a:solidFill>
                <a:latin typeface="Calibri"/>
              </a:rPr>
              <a:t>Lowest recall:</a:t>
            </a:r>
            <a:r>
              <a:rPr sz="1400">
                <a:solidFill>
                  <a:srgbClr val="1E293B"/>
                </a:solidFill>
                <a:latin typeface="Calibri"/>
              </a:rPr>
              <a:t>  sad 0.156, fearful 0.250, happy 0.344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4F46E5"/>
                </a:solidFill>
              </a:rPr>
              <a:t>■  </a:t>
            </a:r>
            <a:r>
              <a:rPr b="1" sz="1400">
                <a:solidFill>
                  <a:srgbClr val="1E293B"/>
                </a:solidFill>
                <a:latin typeface="Calibri"/>
              </a:rPr>
              <a:t>Neutral over-predicted:</a:t>
            </a:r>
            <a:r>
              <a:rPr sz="1400">
                <a:solidFill>
                  <a:srgbClr val="1E293B"/>
                </a:solidFill>
                <a:latin typeface="Calibri"/>
              </a:rPr>
              <a:t>  precision only 0.297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4F46E5"/>
                </a:solidFill>
              </a:rPr>
              <a:t>■  </a:t>
            </a:r>
            <a:r>
              <a:rPr b="1" sz="1400">
                <a:solidFill>
                  <a:srgbClr val="1E293B"/>
                </a:solidFill>
                <a:latin typeface="Calibri"/>
              </a:rPr>
              <a:t>sad -&gt; calm</a:t>
            </a:r>
            <a:r>
              <a:rPr sz="1400">
                <a:solidFill>
                  <a:srgbClr val="1E293B"/>
                </a:solidFill>
                <a:latin typeface="Calibri"/>
              </a:rPr>
              <a:t>  12 clips (38%)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4F46E5"/>
                </a:solidFill>
              </a:rPr>
              <a:t>■  </a:t>
            </a:r>
            <a:r>
              <a:rPr b="1" sz="1400">
                <a:solidFill>
                  <a:srgbClr val="1E293B"/>
                </a:solidFill>
                <a:latin typeface="Calibri"/>
              </a:rPr>
              <a:t>happy -&gt; neutral</a:t>
            </a:r>
            <a:r>
              <a:rPr sz="1400">
                <a:solidFill>
                  <a:srgbClr val="1E293B"/>
                </a:solidFill>
                <a:latin typeface="Calibri"/>
              </a:rPr>
              <a:t>  8 clips (25%)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4F46E5"/>
                </a:solidFill>
              </a:rPr>
              <a:t>■  </a:t>
            </a:r>
            <a:r>
              <a:rPr b="1" sz="1400">
                <a:solidFill>
                  <a:srgbClr val="1E293B"/>
                </a:solidFill>
                <a:latin typeface="Calibri"/>
              </a:rPr>
              <a:t>happy -&gt; surprised</a:t>
            </a:r>
            <a:r>
              <a:rPr sz="1400">
                <a:solidFill>
                  <a:srgbClr val="1E293B"/>
                </a:solidFill>
                <a:latin typeface="Calibri"/>
              </a:rPr>
              <a:t>  8 clips (25%)</a:t>
            </a:r>
          </a:p>
          <a:p>
            <a:pPr>
              <a:spcAft>
                <a:spcPts val="700"/>
              </a:spcAft>
            </a:pPr>
            <a:r>
              <a:rPr sz="800">
                <a:solidFill>
                  <a:srgbClr val="4F46E5"/>
                </a:solidFill>
              </a:rPr>
              <a:t>■  </a:t>
            </a:r>
            <a:r>
              <a:rPr b="1" sz="1400">
                <a:solidFill>
                  <a:srgbClr val="1E293B"/>
                </a:solidFill>
                <a:latin typeface="Calibri"/>
              </a:rPr>
              <a:t>sad -&gt; neutral</a:t>
            </a:r>
            <a:r>
              <a:rPr sz="1400">
                <a:solidFill>
                  <a:srgbClr val="1E293B"/>
                </a:solidFill>
                <a:latin typeface="Calibri"/>
              </a:rPr>
              <a:t>  8 clips (25%)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5486400"/>
            <a:ext cx="5303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Possible reasons (untested): similar low-energy delivery in sad / calm / neutral, shared high arousal between fearful / angry / happy, few training actors.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4F46E5"/>
                </a:solidFill>
                <a:latin typeface="Calibri"/>
              </a:rPr>
              <a:t>HONEST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Calibri"/>
              </a:rPr>
              <a:t>Limitations and future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Speech Emotion Recognition  |  MFCC + CNN-BiLSTM-Attention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7395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5486400" cy="457200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764792"/>
            <a:ext cx="73152" cy="42428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7830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libri"/>
              </a:rPr>
              <a:t>Limitations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221992"/>
            <a:ext cx="502920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>
                <a:solidFill>
                  <a:srgbClr val="1E293B"/>
                </a:solidFill>
                <a:latin typeface="Calibri"/>
              </a:rPr>
              <a:t>Small, acted dataset (24 actors, 2 sentences)</a:t>
            </a:r>
          </a:p>
          <a:p>
            <a:pPr algn="l"/>
            <a:r>
              <a:rPr sz="1900" b="0">
                <a:solidFill>
                  <a:srgbClr val="1E293B"/>
                </a:solidFill>
                <a:latin typeface="Calibri"/>
              </a:rPr>
              <a:t>Only 4 test actors: noisy estimate</a:t>
            </a:r>
          </a:p>
          <a:p>
            <a:pPr algn="l"/>
            <a:r>
              <a:rPr sz="1900" b="0">
                <a:solidFill>
                  <a:srgbClr val="1E293B"/>
                </a:solidFill>
                <a:latin typeface="Calibri"/>
              </a:rPr>
              <a:t>Neutral class has half the clips</a:t>
            </a:r>
          </a:p>
          <a:p>
            <a:pPr algn="l"/>
            <a:r>
              <a:rPr sz="1900" b="0">
                <a:solidFill>
                  <a:srgbClr val="1E293B"/>
                </a:solidFill>
                <a:latin typeface="Calibri"/>
              </a:rPr>
              <a:t>Experiments 1-3 compared with test scores visible: mildly optimistic</a:t>
            </a:r>
          </a:p>
          <a:p>
            <a:pPr algn="l"/>
            <a:r>
              <a:rPr sz="1900" b="0">
                <a:solidFill>
                  <a:srgbClr val="1E293B"/>
                </a:solidFill>
                <a:latin typeface="Calibri"/>
              </a:rPr>
              <a:t>No noise / cross-corpus / fairness tests</a:t>
            </a:r>
          </a:p>
          <a:p>
            <a:pPr algn="l"/>
            <a:r>
              <a:rPr sz="1900" b="0">
                <a:solidFill>
                  <a:srgbClr val="1E293B"/>
                </a:solidFill>
                <a:latin typeface="Calibri"/>
              </a:rPr>
              <a:t>Experiment 4 is a single run (one seed)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600200"/>
            <a:ext cx="5303520" cy="4572000"/>
          </a:xfrm>
          <a:prstGeom prst="roundRect">
            <a:avLst/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764792"/>
            <a:ext cx="73152" cy="4242816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78308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Calibri"/>
              </a:rPr>
              <a:t>Future work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221992"/>
            <a:ext cx="484632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>
                <a:solidFill>
                  <a:srgbClr val="1E293B"/>
                </a:solidFill>
                <a:latin typeface="Calibri"/>
              </a:rPr>
              <a:t>Repeat Exp 3 vs 4 with several seeds</a:t>
            </a:r>
          </a:p>
          <a:p>
            <a:pPr algn="l"/>
            <a:r>
              <a:rPr sz="1900" b="0">
                <a:solidFill>
                  <a:srgbClr val="1E293B"/>
                </a:solidFill>
                <a:latin typeface="Calibri"/>
              </a:rPr>
              <a:t>Actor-grouped cross-validation</a:t>
            </a:r>
          </a:p>
          <a:p>
            <a:pPr algn="l"/>
            <a:r>
              <a:rPr sz="1900" b="0">
                <a:solidFill>
                  <a:srgbClr val="1E293B"/>
                </a:solidFill>
                <a:latin typeface="Calibri"/>
              </a:rPr>
              <a:t>SpecAugment, mixup, more corpora (TESS, CREMA-D)</a:t>
            </a:r>
          </a:p>
          <a:p>
            <a:pPr algn="l"/>
            <a:r>
              <a:rPr sz="1900" b="0">
                <a:solidFill>
                  <a:srgbClr val="1E293B"/>
                </a:solidFill>
                <a:latin typeface="Calibri"/>
              </a:rPr>
              <a:t>Prosodic features / pre-trained speech encoders</a:t>
            </a:r>
          </a:p>
          <a:p>
            <a:pPr algn="l"/>
            <a:r>
              <a:rPr sz="1900" b="0">
                <a:solidFill>
                  <a:srgbClr val="1E293B"/>
                </a:solidFill>
                <a:latin typeface="Calibri"/>
              </a:rPr>
              <a:t>Real-time demo with privacy safeguards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4F46E5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Calibri"/>
              </a:rPr>
              <a:t>Speech Emotion Recognition  |  MFCC + CNN-BiLSTM-Attention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73952"/>
            <a:ext cx="5943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64748B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6766560" cy="457200"/>
          </a:xfrm>
          <a:prstGeom prst="rect">
            <a:avLst/>
          </a:prstGeom>
          <a:noFill/>
        </p:spPr>
        <p:txBody>
          <a:bodyPr wrap="square" lIns="0" rIns="0" tIns="0">
            <a:spAutoFit/>
          </a:bodyPr>
          <a:lstStyle/>
          <a:p>
            <a:pPr>
              <a:spcAft>
                <a:spcPts val="1200"/>
              </a:spcAft>
            </a:pPr>
            <a:r>
              <a:rPr sz="1100">
                <a:solidFill>
                  <a:srgbClr val="4F46E5"/>
                </a:solidFill>
              </a:rPr>
              <a:t>■  </a:t>
            </a:r>
            <a:r>
              <a:rPr b="1" sz="1700">
                <a:solidFill>
                  <a:srgbClr val="1E293B"/>
                </a:solidFill>
                <a:latin typeface="Calibri"/>
              </a:rPr>
              <a:t>Delivered</a:t>
            </a:r>
            <a:r>
              <a:rPr sz="1700">
                <a:solidFill>
                  <a:srgbClr val="1E293B"/>
                </a:solidFill>
                <a:latin typeface="Calibri"/>
              </a:rPr>
              <a:t>  every requirement: data, preprocessing, MFCC, deep model, F1 evaluation</a:t>
            </a:r>
          </a:p>
          <a:p>
            <a:pPr>
              <a:spcAft>
                <a:spcPts val="1200"/>
              </a:spcAft>
            </a:pPr>
            <a:r>
              <a:rPr sz="1100">
                <a:solidFill>
                  <a:srgbClr val="4F46E5"/>
                </a:solidFill>
              </a:rPr>
              <a:t>■  </a:t>
            </a:r>
            <a:r>
              <a:rPr b="1" sz="1700">
                <a:solidFill>
                  <a:srgbClr val="1E293B"/>
                </a:solidFill>
                <a:latin typeface="Calibri"/>
              </a:rPr>
              <a:t>Selected model</a:t>
            </a:r>
            <a:r>
              <a:rPr sz="1700">
                <a:solidFill>
                  <a:srgbClr val="1E293B"/>
                </a:solidFill>
                <a:latin typeface="Calibri"/>
              </a:rPr>
              <a:t>  Experiment 3 (79,080 parameters), chosen by validation Macro F1</a:t>
            </a:r>
          </a:p>
          <a:p>
            <a:pPr>
              <a:spcAft>
                <a:spcPts val="1200"/>
              </a:spcAft>
            </a:pPr>
            <a:r>
              <a:rPr sz="1100">
                <a:solidFill>
                  <a:srgbClr val="4F46E5"/>
                </a:solidFill>
              </a:rPr>
              <a:t>■  </a:t>
            </a:r>
            <a:r>
              <a:rPr b="1" sz="1700">
                <a:solidFill>
                  <a:srgbClr val="1E293B"/>
                </a:solidFill>
                <a:latin typeface="Calibri"/>
              </a:rPr>
              <a:t>Test result</a:t>
            </a:r>
            <a:r>
              <a:rPr sz="1700">
                <a:solidFill>
                  <a:srgbClr val="1E293B"/>
                </a:solidFill>
                <a:latin typeface="Calibri"/>
              </a:rPr>
              <a:t>  Macro F1 0.531, accuracy 56.7% on unseen actors</a:t>
            </a:r>
          </a:p>
          <a:p>
            <a:pPr>
              <a:spcAft>
                <a:spcPts val="1200"/>
              </a:spcAft>
            </a:pPr>
            <a:r>
              <a:rPr sz="1100">
                <a:solidFill>
                  <a:srgbClr val="4F46E5"/>
                </a:solidFill>
              </a:rPr>
              <a:t>■  </a:t>
            </a:r>
            <a:r>
              <a:rPr b="1" sz="1700">
                <a:solidFill>
                  <a:srgbClr val="1E293B"/>
                </a:solidFill>
                <a:latin typeface="Calibri"/>
              </a:rPr>
              <a:t>Baseline</a:t>
            </a:r>
            <a:r>
              <a:rPr sz="1700">
                <a:solidFill>
                  <a:srgbClr val="1E293B"/>
                </a:solidFill>
                <a:latin typeface="Calibri"/>
              </a:rPr>
              <a:t>  beats the tuned SVM (0.446) by +0.084 Macro F1</a:t>
            </a:r>
          </a:p>
          <a:p>
            <a:pPr>
              <a:spcAft>
                <a:spcPts val="1200"/>
              </a:spcAft>
            </a:pPr>
            <a:r>
              <a:rPr sz="1100">
                <a:solidFill>
                  <a:srgbClr val="4F46E5"/>
                </a:solidFill>
              </a:rPr>
              <a:t>■  </a:t>
            </a:r>
            <a:r>
              <a:rPr b="1" sz="1700">
                <a:solidFill>
                  <a:srgbClr val="1E293B"/>
                </a:solidFill>
                <a:latin typeface="Calibri"/>
              </a:rPr>
              <a:t>Honest view</a:t>
            </a:r>
            <a:r>
              <a:rPr sz="1700">
                <a:solidFill>
                  <a:srgbClr val="1E293B"/>
                </a:solidFill>
                <a:latin typeface="Calibri"/>
              </a:rPr>
              <a:t>  uneven across emotions; sad and fearful remain hard</a:t>
            </a:r>
          </a:p>
          <a:p>
            <a:pPr>
              <a:spcAft>
                <a:spcPts val="1200"/>
              </a:spcAft>
            </a:pPr>
            <a:r>
              <a:rPr sz="1100">
                <a:solidFill>
                  <a:srgbClr val="4F46E5"/>
                </a:solidFill>
              </a:rPr>
              <a:t>■  </a:t>
            </a:r>
            <a:r>
              <a:rPr b="1" sz="1700">
                <a:solidFill>
                  <a:srgbClr val="1E293B"/>
                </a:solidFill>
                <a:latin typeface="Calibri"/>
              </a:rPr>
              <a:t>Reproducible</a:t>
            </a:r>
            <a:r>
              <a:rPr sz="1700">
                <a:solidFill>
                  <a:srgbClr val="1E293B"/>
                </a:solidFill>
                <a:latin typeface="Calibri"/>
              </a:rPr>
              <a:t>  seeds, tests, one-command evaluation and prediction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1645920"/>
            <a:ext cx="3749039" cy="4206240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0" y="2286000"/>
            <a:ext cx="374903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3291840"/>
            <a:ext cx="374903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0">
                <a:solidFill>
                  <a:srgbClr val="C7D2FE"/>
                </a:solidFill>
                <a:latin typeface="Calibri"/>
              </a:rPr>
              <a:t>Questions?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4297680"/>
            <a:ext cx="33832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0E7FF"/>
                </a:solidFill>
                <a:latin typeface="Consolas"/>
              </a:rPr>
              <a:t>python predict.py clip.wav</a:t>
            </a:r>
          </a:p>
          <a:p>
            <a:pPr algn="ctr"/>
            <a:r>
              <a:rPr sz="1300" b="0">
                <a:solidFill>
                  <a:srgbClr val="E0E7FF"/>
                </a:solidFill>
                <a:latin typeface="Consolas"/>
              </a:rPr>
              <a:t>python summarize_results.py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