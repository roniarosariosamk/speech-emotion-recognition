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SVM baseline</c:v>
                </c:pt>
              </c:strCache>
            </c:strRef>
          </c:tx>
          <c:spPr>
            <a:solidFill>
              <a:srgbClr val="94A3B8"/>
            </a:solidFill>
          </c:spPr>
          <c:cat>
            <c:strRef>
              <c:f>Sheet1!$A$2:$A$5</c:f>
              <c:strCache>
                <c:ptCount val="4"/>
                <c:pt idx="0">
                  <c:v>Macro-F1</c:v>
                </c:pt>
                <c:pt idx="1">
                  <c:v>Weighted-F1</c:v>
                </c:pt>
                <c:pt idx="2">
                  <c:v>Micro-F1</c:v>
                </c:pt>
                <c:pt idx="3">
                  <c:v>Accuracy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0.8524217328565156</c:v>
                </c:pt>
                <c:pt idx="1">
                  <c:v>0.8524217328565155</c:v>
                </c:pt>
                <c:pt idx="2">
                  <c:v>0.8541666666666666</c:v>
                </c:pt>
                <c:pt idx="3">
                  <c:v>0.8541666666666666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CNN-BiLSTM-Attention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Sheet1!$A$2:$A$5</c:f>
              <c:strCache>
                <c:ptCount val="4"/>
                <c:pt idx="0">
                  <c:v>Macro-F1</c:v>
                </c:pt>
                <c:pt idx="1">
                  <c:v>Weighted-F1</c:v>
                </c:pt>
                <c:pt idx="2">
                  <c:v>Micro-F1</c:v>
                </c:pt>
                <c:pt idx="3">
                  <c:v>Accuracy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0.8795135898584174</c:v>
                </c:pt>
                <c:pt idx="1">
                  <c:v>0.8795135898584174</c:v>
                </c:pt>
                <c:pt idx="2">
                  <c:v>0.875</c:v>
                </c:pt>
                <c:pt idx="3">
                  <c:v>0.875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SVM baseline</c:v>
                </c:pt>
              </c:strCache>
            </c:strRef>
          </c:tx>
          <c:spPr>
            <a:solidFill>
              <a:srgbClr val="94A3B8"/>
            </a:solidFill>
          </c:spPr>
          <c:cat>
            <c:strRef>
              <c:f>Sheet1!$A$2:$A$9</c:f>
              <c:strCache>
                <c:ptCount val="8"/>
                <c:pt idx="0">
                  <c:v>neutral</c:v>
                </c:pt>
                <c:pt idx="1">
                  <c:v>calm</c:v>
                </c:pt>
                <c:pt idx="2">
                  <c:v>happy</c:v>
                </c:pt>
                <c:pt idx="3">
                  <c:v>sad</c:v>
                </c:pt>
                <c:pt idx="4">
                  <c:v>angry</c:v>
                </c:pt>
                <c:pt idx="5">
                  <c:v>fearful</c:v>
                </c:pt>
                <c:pt idx="6">
                  <c:v>disgust</c:v>
                </c:pt>
                <c:pt idx="7">
                  <c:v>surprised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0.8333333333333334</c:v>
                </c:pt>
                <c:pt idx="1">
                  <c:v>0.8571428571428571</c:v>
                </c:pt>
                <c:pt idx="2">
                  <c:v>0.6086956521739131</c:v>
                </c:pt>
                <c:pt idx="3">
                  <c:v>1.0</c:v>
                </c:pt>
                <c:pt idx="4">
                  <c:v>0.8333333333333334</c:v>
                </c:pt>
                <c:pt idx="5">
                  <c:v>0.8888888888888888</c:v>
                </c:pt>
                <c:pt idx="6">
                  <c:v>0.8888888888888888</c:v>
                </c:pt>
                <c:pt idx="7">
                  <c:v>0.9090909090909091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CNN-BiLSTM-Attention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Sheet1!$A$2:$A$9</c:f>
              <c:strCache>
                <c:ptCount val="8"/>
                <c:pt idx="0">
                  <c:v>neutral</c:v>
                </c:pt>
                <c:pt idx="1">
                  <c:v>calm</c:v>
                </c:pt>
                <c:pt idx="2">
                  <c:v>happy</c:v>
                </c:pt>
                <c:pt idx="3">
                  <c:v>sad</c:v>
                </c:pt>
                <c:pt idx="4">
                  <c:v>angry</c:v>
                </c:pt>
                <c:pt idx="5">
                  <c:v>fearful</c:v>
                </c:pt>
                <c:pt idx="6">
                  <c:v>disgust</c:v>
                </c:pt>
                <c:pt idx="7">
                  <c:v>surprised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0.9230769230769231</c:v>
                </c:pt>
                <c:pt idx="1">
                  <c:v>1.0</c:v>
                </c:pt>
                <c:pt idx="2">
                  <c:v>0.6896551724137931</c:v>
                </c:pt>
                <c:pt idx="3">
                  <c:v>1.0</c:v>
                </c:pt>
                <c:pt idx="4">
                  <c:v>0.8571428571428571</c:v>
                </c:pt>
                <c:pt idx="5">
                  <c:v>0.8571428571428571</c:v>
                </c:pt>
                <c:pt idx="6">
                  <c:v>0.9090909090909091</c:v>
                </c:pt>
                <c:pt idx="7">
                  <c:v>0.8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recognise emotion from speech using MFCC features and a deep network, evaluated with F1-score.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Emotion matters in call-centre analytics, tutoring, wellbeing apps and HRI. State the assigned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stages left to right. Each stage is a separate tested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RAVDESS speech: 1,440 clips, 24 actors, 8 emotions. Labels are in the filename. Actors are split so no voice is shared across partitions.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trimming, fixed window, augmentation (train only), and MFCC + deltas giving a 130 x 120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conv blocks reduce 130 frames to 16; BiLSTM adds temporal context; attention pools frames. 341,064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with LR scheduling, early stopping on validation loss, class weights. SVM baseline tuned on validation 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Macro-F1 is primary because it weights every emotion equally. Test actors are untouched during training and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macro-F1 for deep vs baseline, then discuss the difference. These numbers are from the synthetic smoke test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best and worst classes and where the confusion matrix shows systematic mistakes.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 about limitations: acted speech, few test speakers, MFCC-only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delivered work, then future work: cross-corpus evaluation, SpecAugment, pretrained speech encoders, real-time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246120"/>
            <a:ext cx="14630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6B6D4"/>
                </a:solidFill>
                <a:latin typeface="Calibri"/>
              </a:rPr>
              <a:t>INDIVIDUAL MAJOR PROJECT  |  MACHINE LEARNING INTERNSHIP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Speech Emotion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Calibri"/>
              </a:rPr>
              <a:t>MFCC features + CNN-BiLSTM-Attention deep learning model, evaluated with F1-score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Ronia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Dataset: Synthetic smoke-test audio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Why recognise emotion in speech?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394960" cy="2011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01952"/>
            <a:ext cx="73152" cy="16824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Assigned 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Build an ML system that recognises emotion in speech using MFCC features and a deep model, covering data collection, preprocessing, model implementation and F1-score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5394960" cy="21031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142231"/>
            <a:ext cx="73152" cy="17739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it is hard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99431"/>
            <a:ext cx="4937760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Emotion is subjective, speakers differ, and public corpora are small - models tend to memorise voices instead of emotion.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737360"/>
            <a:ext cx="5166360" cy="4343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6B6D4"/>
                </a:solidFill>
                <a:latin typeface="Calibri"/>
              </a:rPr>
              <a:t>Requirement checklist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642616"/>
            <a:ext cx="292608" cy="29260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64261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6060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8986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RAVDESS download + labels</a:t>
            </a:r>
          </a:p>
        </p:txBody>
      </p:sp>
      <p:sp>
        <p:nvSpPr>
          <p:cNvPr id="21" name="Oval 20"/>
          <p:cNvSpPr/>
          <p:nvPr/>
        </p:nvSpPr>
        <p:spPr>
          <a:xfrm>
            <a:off x="6720840" y="3328416"/>
            <a:ext cx="292608" cy="29260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32841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2918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Preprocessing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trim, normalise, augment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4014215"/>
            <a:ext cx="292608" cy="29260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14215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977639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MFCC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2702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40 MFCC + delta + delta-delta</a:t>
            </a:r>
          </a:p>
        </p:txBody>
      </p:sp>
      <p:sp>
        <p:nvSpPr>
          <p:cNvPr id="29" name="Oval 28"/>
          <p:cNvSpPr/>
          <p:nvPr/>
        </p:nvSpPr>
        <p:spPr>
          <a:xfrm>
            <a:off x="6720840" y="4700016"/>
            <a:ext cx="292608" cy="29260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70001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6634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Deep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9560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CNN - BiLSTM - Attention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5385816"/>
            <a:ext cx="292608" cy="29260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538581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3492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F1-score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6418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macro / weighted / per-class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diagram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10881360" cy="23576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Reproducible</a:t>
            </a:r>
            <a:r>
              <a:rPr sz="1700">
                <a:solidFill>
                  <a:srgbClr val="1E293B"/>
                </a:solidFill>
                <a:latin typeface="Calibri"/>
              </a:rPr>
              <a:t>  - one command, fixed seeds, configuration dataclasses, unit tests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Leak-free</a:t>
            </a:r>
            <a:r>
              <a:rPr sz="1700">
                <a:solidFill>
                  <a:srgbClr val="1E293B"/>
                </a:solidFill>
                <a:latin typeface="Calibri"/>
              </a:rPr>
              <a:t>  - speaker-independent split; normalisation statistics fitted on training data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Data collection: RAVDESS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65176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clips 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91640"/>
            <a:ext cx="265176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745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actors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265176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745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060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emotion classes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8321040" cy="12801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02152"/>
            <a:ext cx="73152" cy="9509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Speaker-independent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59352"/>
            <a:ext cx="7863840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Train 224 clips (7 actors)  |  Validation 64 (2)  |  Test 96 (3). No actor appears in two partitions.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92040"/>
            <a:ext cx="832104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4F46E5"/>
                </a:solidFill>
              </a:rPr>
              <a:t>■  </a:t>
            </a:r>
            <a:r>
              <a:rPr b="1" sz="1500">
                <a:solidFill>
                  <a:srgbClr val="1E293B"/>
                </a:solidFill>
                <a:latin typeface="Calibri"/>
              </a:rPr>
              <a:t>Labels</a:t>
            </a:r>
            <a:r>
              <a:rPr sz="1500">
                <a:solidFill>
                  <a:srgbClr val="1E293B"/>
                </a:solidFill>
                <a:latin typeface="Calibri"/>
              </a:rPr>
              <a:t>  parsed from filenames such as 03-01-05-02-01-01-07.wav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4F46E5"/>
                </a:solidFill>
              </a:rPr>
              <a:t>■  </a:t>
            </a:r>
            <a:r>
              <a:rPr b="1" sz="1500">
                <a:solidFill>
                  <a:srgbClr val="1E293B"/>
                </a:solidFill>
                <a:latin typeface="Calibri"/>
              </a:rPr>
              <a:t>Source</a:t>
            </a:r>
            <a:r>
              <a:rPr sz="1500">
                <a:solidFill>
                  <a:srgbClr val="1E293B"/>
                </a:solidFill>
                <a:latin typeface="Calibri"/>
              </a:rPr>
              <a:t>  Zenodo, CC BY-NC-SA 4.0, auto-downloaded by --download</a:t>
            </a:r>
          </a:p>
        </p:txBody>
      </p:sp>
      <p:pic>
        <p:nvPicPr>
          <p:cNvPr id="21" name="Picture 20" descr="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37360"/>
            <a:ext cx="2697480" cy="11464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144000" y="27432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Pre-processing and MFCC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66928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Resample</a:t>
            </a:r>
            <a:r>
              <a:rPr sz="1600">
                <a:solidFill>
                  <a:srgbClr val="1E293B"/>
                </a:solidFill>
                <a:latin typeface="Calibri"/>
              </a:rPr>
              <a:t>  to 22.05 kHz mono; trim silence; peak-normalise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Fixed window</a:t>
            </a:r>
            <a:r>
              <a:rPr sz="1600">
                <a:solidFill>
                  <a:srgbClr val="1E293B"/>
                </a:solidFill>
                <a:latin typeface="Calibri"/>
              </a:rPr>
              <a:t>  3 s centre crop / zero-pad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Augment</a:t>
            </a:r>
            <a:r>
              <a:rPr sz="1600">
                <a:solidFill>
                  <a:srgbClr val="1E293B"/>
                </a:solidFill>
                <a:latin typeface="Calibri"/>
              </a:rPr>
              <a:t>  noise, pitch +/-2 st, stretch 0.9-1.1x, shift (train only)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MFCC</a:t>
            </a:r>
            <a:r>
              <a:rPr sz="1600">
                <a:solidFill>
                  <a:srgbClr val="1E293B"/>
                </a:solidFill>
                <a:latin typeface="Calibri"/>
              </a:rPr>
              <a:t>  40 coefficients + delta + delta-delta = 120 features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Standardise</a:t>
            </a:r>
            <a:r>
              <a:rPr sz="1600">
                <a:solidFill>
                  <a:srgbClr val="1E293B"/>
                </a:solidFill>
                <a:latin typeface="Calibri"/>
              </a:rPr>
              <a:t>  train-set mean / std per coefficient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5669280" cy="7315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5303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4F46E5"/>
                </a:solidFill>
                <a:latin typeface="Calibri"/>
              </a:rPr>
              <a:t>Input tensor per clip:  130 frames  x  120 features</a:t>
            </a:r>
          </a:p>
        </p:txBody>
      </p:sp>
      <p:pic>
        <p:nvPicPr>
          <p:cNvPr id="10" name="Picture 9" descr="mfcc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20240"/>
            <a:ext cx="5029200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411480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MFCCs capture the spectral envelope (vocal-tract shape); deltas capture how it changes - key cues for arousal and emotion.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Model: CNN - BiLSTM -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11247120" cy="26243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4343400"/>
            <a:ext cx="3566160" cy="17373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507992"/>
            <a:ext cx="73152" cy="14081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Conv1D x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6519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Local spectral patterns; BatchNorm, ReLU, MaxPool, Dropout.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343400"/>
            <a:ext cx="3566160" cy="17373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507992"/>
            <a:ext cx="73152" cy="14081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526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BiLSTM (96)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6519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Context in both time directions.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343400"/>
            <a:ext cx="3520440" cy="17373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507992"/>
            <a:ext cx="73152" cy="14081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5262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Attention pooling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965192"/>
            <a:ext cx="306324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Learns which frames carry emotion.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Training and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394960" cy="4297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01952"/>
            <a:ext cx="73152" cy="39684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Deep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Adam, lr 1e-3, ReduceLROnPlateau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Class-weighted cross-entropy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Batch 32, up to 30 epochs (ran 27)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Early stopping on validation loss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341,064 parameters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Training time 73 s (CPU)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5257800" cy="23774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901952"/>
            <a:ext cx="73152" cy="20482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Classical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59152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RBF-SVM on utterance-level MFCC mean + std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Tuned on validation actors: C = 100, gamma = 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97680"/>
            <a:ext cx="5257800" cy="17373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462272"/>
            <a:ext cx="73152" cy="14081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48056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Regularisation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19472"/>
            <a:ext cx="480060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Dropout, L2, Gaussian noise, augmentation, speaker-independent early stopping.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Evaluation with F1-score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972800" cy="11887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F1  =  2 · Precision · Recall  /  (Precision + Recall)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3520440" cy="26517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364992"/>
            <a:ext cx="73152" cy="2322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Macro-F1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22191"/>
            <a:ext cx="3063240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Mean of per-class F1. Primary metric; penalises ignoring any emotion.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200400"/>
            <a:ext cx="3520440" cy="26517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3364992"/>
            <a:ext cx="73152" cy="2322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3832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Weighted / micro-F1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822191"/>
            <a:ext cx="3063240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Weighted by class support; micro pools all decisions (equals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200400"/>
            <a:ext cx="3566160" cy="26517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3364992"/>
            <a:ext cx="73152" cy="2322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Per-class + confusion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822191"/>
            <a:ext cx="3108960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Precision, recall, F1 for each emotion and row-normalised confusion matrices.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Results: overall 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47472"/>
            <a:ext cx="498348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47472"/>
            <a:ext cx="4983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SYNTHETIC SMOKE-TEST DATA - NOT RAVDESS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5176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0.880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Macro-F1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737360"/>
            <a:ext cx="265176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20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0.880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6517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Weighted-F1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37360"/>
            <a:ext cx="265176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20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517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737360"/>
            <a:ext cx="242316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2423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0.852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SVM baseline macro-F1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40080" y="3383280"/>
          <a:ext cx="109728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Results: per-class F1 and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47472"/>
            <a:ext cx="498348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47472"/>
            <a:ext cx="4983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SYNTHETIC SMOKE-TEST DATA - NOT RAVDESS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554480"/>
          <a:ext cx="64922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0" name="Picture 9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600200"/>
            <a:ext cx="559612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Discussion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394960" cy="18288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01952"/>
            <a:ext cx="73152" cy="14996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Best class: calm (F1 1.000). Weakest: happy (F1 0.690). Check the confusion matrix for arousal-similar pairs.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53949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959352"/>
            <a:ext cx="73152" cy="195681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speaker-independent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1655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A clip-level random split lets the model recognise the voice, inflating scores. Our actor-level split measures generalisation to new speakers.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37360"/>
            <a:ext cx="5257800" cy="43434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01952"/>
            <a:ext cx="73152" cy="401421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59152"/>
            <a:ext cx="480060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Acted speech, 24 speakers, two sentences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Four test actors -&gt; high variance; use speaker-grouped k-fold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MFCC-only: weak on valence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No fairness / demographic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Conclusion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394960" cy="43434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01952"/>
            <a:ext cx="73152" cy="401421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93776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Data collection, preprocessing, MFCC pipeline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CNN-BiLSTM-Attention model + SVM baseline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F1-based evaluation, speaker-independent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Unit tests, one-command reproducibility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Source code + PDF report + this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5257800" cy="43434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901952"/>
            <a:ext cx="73152" cy="401421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59152"/>
            <a:ext cx="480060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Leave-speakers-out cross-validation with confidence intervals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SpecAugment / mixup; TESS, CREMA-D cross-corpus tests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wav2vec-style encoders under the same protocol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Calibri"/>
              </a:rPr>
              <a:t>Real-time microphone demo + REST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6B6D4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Code: run_pipeline.py  |  Report: Speech_Emotion_Recognition_Report.pdf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