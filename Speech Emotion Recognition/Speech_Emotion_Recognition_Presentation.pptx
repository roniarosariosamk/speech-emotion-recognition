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Macro F1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Sheet1!$A$2:$A$6</c:f>
              <c:strCache>
                <c:ptCount val="5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0.4484</c:v>
                </c:pt>
                <c:pt idx="1">
                  <c:v>0.4873</c:v>
                </c:pt>
                <c:pt idx="2">
                  <c:v>0.5161</c:v>
                </c:pt>
                <c:pt idx="3">
                  <c:v>0.4794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Macro F1</c:v>
                </c:pt>
              </c:strCache>
            </c:strRef>
          </c:tx>
          <c:spPr>
            <a:solidFill>
              <a:srgbClr val="4F46E5"/>
            </a:solidFill>
          </c:spPr>
          <c:cat>
            <c:strRef>
              <c:f>Sheet1!$A$2:$A$6</c:f>
              <c:strCache>
                <c:ptCount val="5"/>
                <c:pt idx="0">
                  <c:v>Exp 1</c:v>
                </c:pt>
                <c:pt idx="1">
                  <c:v>Exp 2</c:v>
                </c:pt>
                <c:pt idx="2">
                  <c:v>Exp 3</c:v>
                </c:pt>
                <c:pt idx="3">
                  <c:v>Exp 4</c:v>
                </c:pt>
                <c:pt idx="4">
                  <c:v>SVM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0.4292</c:v>
                </c:pt>
                <c:pt idx="1">
                  <c:v>0.5231</c:v>
                </c:pt>
                <c:pt idx="2">
                  <c:v>0.5307</c:v>
                </c:pt>
                <c:pt idx="3">
                  <c:v>0.4783</c:v>
                </c:pt>
                <c:pt idx="4">
                  <c:v>0.4464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project: recognise 8 emotions from speech using MFCC features and a CNN-BiLSTM-Attention network. Headline numbers are on unseen test 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Emotion is carried by how we speak (pitch, energy, timbre, rhythm), not only by words. The task: classify a speech clip into one of 8 emotions.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objective maps to a module of the code base and is covered by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1,440 clips, 24 actors (12F/12M), 2 sentences, 8 emotions. Neutral has a single intensity, so 96 clips; others have 192. Split is by actor to avoid speaker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audio -&gt; preprocessing -&gt; MFCC -&gt; normalisation -&gt; CNN-BiLSTM-Attention -&gt; emotion. Each stage is a tested Python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MFCC describe the voice timbre per frame; delta features add how it changes; delta-delta adds how that change accelerates.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 network with 79,080 parameters. CNN finds local spectral patterns, BiLSTM models context both ways, attention weights the most informative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weights compensate for fewer neutral clips. The best checkpoint is the epoch with the highest validation Macro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set = 4 unseen actors (240 clips). Validation Macro F1 was used to choose the final model. Experiment 4 (stronger dropout) was trained once on the real data and is included in the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Observed errors (counts from the test confusion matrix). Explanations are hypotheses, not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clearly: acted speech, 4 test actors, one split. The model must not be presented as understanding human emotion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pipeline: data -&gt; MFCC -&gt; CNN-BiLSTM-Attention -&gt; F1 evaluation, with tests, inference script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Calibri"/>
              </a:rPr>
              <a:t>INDIVIDUAL MAJOR PROJECT  |  MACHINE LEARNING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Emotion Recognition in Speech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using MFCC Features and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0E7FF"/>
                </a:solidFill>
                <a:latin typeface="Calibri"/>
              </a:rPr>
              <a:t>CNN-BiLSTM-Attention model  |  RAVDESS  |  evaluated with Macro F1 on unseen 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83480"/>
            <a:ext cx="2286000" cy="109728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0.531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7D2FE"/>
                </a:solidFill>
                <a:latin typeface="Calibri"/>
              </a:rPr>
              <a:t>test Macro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983480"/>
            <a:ext cx="2286000" cy="109728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5074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623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7D2FE"/>
                </a:solidFill>
                <a:latin typeface="Calibri"/>
              </a:rPr>
              <a:t>test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4983480"/>
            <a:ext cx="2286000" cy="109728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507492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79,080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6235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7D2FE"/>
                </a:solidFill>
                <a:latin typeface="Calibri"/>
              </a:rPr>
              <a:t>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0749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Presented by Ronia Rosario Sam K</a:t>
            </a:r>
          </a:p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Machine Learning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1143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82296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0F172A"/>
                </a:solidFill>
                <a:latin typeface="Calibri"/>
              </a:rPr>
              <a:t>Develop a machine learning system for emotion recognition in speech using MFCC features and a deep learning model, including data collection, preprocessing, model implementation and evaluation using F1-score.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566160" cy="31089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82112"/>
            <a:ext cx="73152" cy="27797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310896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Call-centre analytics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Tutoring and wellbeing tools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Human-robot interaction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Accessibility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017520"/>
            <a:ext cx="3566160" cy="31089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182112"/>
            <a:ext cx="73152" cy="27797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Why it is 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310896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Emotion is subjective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Every speaker sounds different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Public datasets are small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Models can memorise voices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017520"/>
            <a:ext cx="3566160" cy="310896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182112"/>
            <a:ext cx="73152" cy="27797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Our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39312"/>
            <a:ext cx="310896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MFCC + delta features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CNN-BiLSTM-Attention network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Unseen-actor evaluation</a:t>
            </a:r>
          </a:p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Macro F1 as the main metric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WHAT WE SET OUT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10512"/>
            <a:ext cx="73152" cy="1819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1  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RAVDESS speech corpus, labels parsed from filenames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10512"/>
            <a:ext cx="73152" cy="181965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2 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6771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Resample, trim, normalise, fixed 3 s window, augment (train 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64592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810512"/>
            <a:ext cx="73152" cy="18196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3  MFCC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6771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40 MFCC + delta + delta-delta = 120 features x 130 frames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87952"/>
            <a:ext cx="73152" cy="1819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4  Deep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CNN -&gt; BiLSTM -&gt; attention -&gt; softmax over 8 emotions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187952"/>
            <a:ext cx="73152" cy="181965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5 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4515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RBF-SVM on MFCC statistics for fair comparison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4023360"/>
            <a:ext cx="3566160" cy="21488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9" y="4187952"/>
            <a:ext cx="73152" cy="18196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206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6  F1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45152"/>
            <a:ext cx="31089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Macro / weighted / per-class F1 on held-out actors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Dataset: RAVDESS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92024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1,440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1920240" cy="14173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7830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146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600200"/>
            <a:ext cx="1920240" cy="1417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830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5146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emotions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Actor-independent split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4169663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416966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Train: 960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4169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actors 1-16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703320"/>
            <a:ext cx="1014983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703320"/>
            <a:ext cx="101498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Val: 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26280"/>
            <a:ext cx="10149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actors 17-20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79" y="3703320"/>
            <a:ext cx="1014983" cy="7772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79" y="3703320"/>
            <a:ext cx="101498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Test: 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79" y="4526280"/>
            <a:ext cx="10149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actors 21-24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6309360" cy="457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sz="1400">
                <a:solidFill>
                  <a:srgbClr val="1E293B"/>
                </a:solidFill>
                <a:latin typeface="Calibri"/>
              </a:rPr>
              <a:t>No actor appears in two partitions (asserted in code)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sz="1400">
                <a:solidFill>
                  <a:srgbClr val="1E293B"/>
                </a:solidFill>
                <a:latin typeface="Calibri"/>
              </a:rPr>
              <a:t>Training grows to 2,880 samples with augmentation; val/test are never augmented</a:t>
            </a:r>
          </a:p>
        </p:txBody>
      </p:sp>
      <p:pic>
        <p:nvPicPr>
          <p:cNvPr id="27" name="Picture 26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4480560" cy="19042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23760" y="38404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Labels: neutral, calm, happy, sad, angry, fearful, disgust, surprised (fixed order used everywhere).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diagram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881360" cy="23576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931920"/>
            <a:ext cx="3566160" cy="2286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096511"/>
            <a:ext cx="73152" cy="19568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No data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53712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Normalisation statistics come from training data only; augmentation only touches training clips.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3566160" cy="2286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4096511"/>
            <a:ext cx="73152" cy="19568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Unseen-actor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53712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Test actors 21-24 never appear in training or tuning, so scores reflect new voices.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31920"/>
            <a:ext cx="3566160" cy="2286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096511"/>
            <a:ext cx="73152" cy="19568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114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Validation-based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53712"/>
            <a:ext cx="3108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Checkpoint, early stopping and final-model choice use validation Macro F1, not the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Preprocessing and MFCC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760720" cy="457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Resample</a:t>
            </a:r>
            <a:r>
              <a:rPr sz="1600">
                <a:solidFill>
                  <a:srgbClr val="1E293B"/>
                </a:solidFill>
                <a:latin typeface="Calibri"/>
              </a:rPr>
              <a:t>  to 22,050 Hz mono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Trim silence</a:t>
            </a:r>
            <a:r>
              <a:rPr sz="1600">
                <a:solidFill>
                  <a:srgbClr val="1E293B"/>
                </a:solidFill>
                <a:latin typeface="Calibri"/>
              </a:rPr>
              <a:t>  (30 dB) and peak-normalise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Fixed window</a:t>
            </a:r>
            <a:r>
              <a:rPr sz="1600">
                <a:solidFill>
                  <a:srgbClr val="1E293B"/>
                </a:solidFill>
                <a:latin typeface="Calibri"/>
              </a:rPr>
              <a:t>  of 3 s (crop / zero-pad)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MFCC</a:t>
            </a:r>
            <a:r>
              <a:rPr sz="1600">
                <a:solidFill>
                  <a:srgbClr val="1E293B"/>
                </a:solidFill>
                <a:latin typeface="Calibri"/>
              </a:rPr>
              <a:t>  40 coefficients, FFT 2048, hop 512, 128 mel bands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Delta + delta-delta</a:t>
            </a:r>
            <a:r>
              <a:rPr sz="1600">
                <a:solidFill>
                  <a:srgbClr val="1E293B"/>
                </a:solidFill>
                <a:latin typeface="Calibri"/>
              </a:rPr>
              <a:t>  adds speed and acceleration of each coefficient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Tensor</a:t>
            </a:r>
            <a:r>
              <a:rPr sz="1600">
                <a:solidFill>
                  <a:srgbClr val="1E293B"/>
                </a:solidFill>
                <a:latin typeface="Calibri"/>
              </a:rPr>
              <a:t>  130 frames x 120 features per clip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4F46E5"/>
                </a:solidFill>
              </a:rPr>
              <a:t>■  </a:t>
            </a:r>
            <a:r>
              <a:rPr b="1" sz="1600">
                <a:solidFill>
                  <a:srgbClr val="1E293B"/>
                </a:solidFill>
                <a:latin typeface="Calibri"/>
              </a:rPr>
              <a:t>Standardise</a:t>
            </a:r>
            <a:r>
              <a:rPr sz="1600">
                <a:solidFill>
                  <a:srgbClr val="1E293B"/>
                </a:solidFill>
                <a:latin typeface="Calibri"/>
              </a:rPr>
              <a:t>  with training mean / std saved to norm.npz</a:t>
            </a:r>
          </a:p>
        </p:txBody>
      </p:sp>
      <p:pic>
        <p:nvPicPr>
          <p:cNvPr id="8" name="Picture 7" descr="mfcc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5120640" cy="20482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4251960"/>
            <a:ext cx="5120640" cy="19202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4416552"/>
            <a:ext cx="73152" cy="15910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4348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Augmentation (train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73752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2 extra copies per clip: noise, pitch +/-2 semitones, time stretch 0.9-1.1x or time shift.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CNN + BILSTM +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10881360" cy="25389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977639"/>
            <a:ext cx="3566160" cy="22402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142231"/>
            <a:ext cx="73152" cy="19110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1"/>
            <a:ext cx="3108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2 Conv1D blocks (32 and 64 filters) with batch norm, ReLU, pooling and dropout.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77639"/>
            <a:ext cx="3566160" cy="22402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4142231"/>
            <a:ext cx="73152" cy="19110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60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BiLSTM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599431"/>
            <a:ext cx="3108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48 units per direction read the sequence forwards and backwards.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566160" cy="22402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142231"/>
            <a:ext cx="73152" cy="1911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160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Attention + 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99431"/>
            <a:ext cx="3108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Learned frame weights give one utterance vector; Dense(64) and softmax output 8 probabilities.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Training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94960" cy="5486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Optimiser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45920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Adam, lr 1e-3, halved on plateau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67712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Cross-entropy + class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9504"/>
            <a:ext cx="5394960" cy="5486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950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Batch /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89504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32 / up to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1129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Early stopping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5112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12 epochs on val Macro 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33088"/>
            <a:ext cx="5394960" cy="5486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3308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Best epoch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133088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12 of 24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53949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Seed /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754880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42 / 170 s CPU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76672"/>
            <a:ext cx="5394960" cy="5486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7667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376672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Macro F1 (main), weighted F1, per-class, confusion matrix</a:t>
            </a:r>
          </a:p>
        </p:txBody>
      </p:sp>
      <p:pic>
        <p:nvPicPr>
          <p:cNvPr id="28" name="Picture 27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394960" cy="20500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09360" y="3977639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Validation loss stops improving after about epoch 12; the checkpoint from the best validation Macro F1 epoch is kept, which limits over-fitting.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Results and baseline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00200"/>
          <a:ext cx="67665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600200"/>
            <a:ext cx="1920240" cy="14173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830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0.531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5146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Experiment 3 Macro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600200"/>
            <a:ext cx="1920240" cy="14173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78308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56.7%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146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154680"/>
            <a:ext cx="1920240" cy="14173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3375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0.446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69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SVM baseline Macro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3154680"/>
            <a:ext cx="1920240" cy="1417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333756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+0.084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069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Macro F1 vs 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5488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Weighted F1 0.538  |  macro precision 0.574  |  macro recall 0.574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Small test set: differences of a few points between experiments are not conclusive.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Confusion matrix and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ina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815584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What the model gets right and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5394960" cy="457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Best:</a:t>
            </a:r>
            <a:r>
              <a:rPr sz="1400">
                <a:solidFill>
                  <a:srgbClr val="1E293B"/>
                </a:solidFill>
                <a:latin typeface="Calibri"/>
              </a:rPr>
              <a:t>  surprised (F1 0.806), angry recall 0.906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Lowest recall:</a:t>
            </a:r>
            <a:r>
              <a:rPr sz="1400">
                <a:solidFill>
                  <a:srgbClr val="1E293B"/>
                </a:solidFill>
                <a:latin typeface="Calibri"/>
              </a:rPr>
              <a:t>  sad 0.156, fearful 0.250, happy 0.344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Neutral over-predicted:</a:t>
            </a:r>
            <a:r>
              <a:rPr sz="1400">
                <a:solidFill>
                  <a:srgbClr val="1E293B"/>
                </a:solidFill>
                <a:latin typeface="Calibri"/>
              </a:rPr>
              <a:t>  precision only 0.297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sad -&gt; calm</a:t>
            </a:r>
            <a:r>
              <a:rPr sz="1400">
                <a:solidFill>
                  <a:srgbClr val="1E293B"/>
                </a:solidFill>
                <a:latin typeface="Calibri"/>
              </a:rPr>
              <a:t>  12 clips (38%)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happy -&gt; neutral</a:t>
            </a:r>
            <a:r>
              <a:rPr sz="1400">
                <a:solidFill>
                  <a:srgbClr val="1E293B"/>
                </a:solidFill>
                <a:latin typeface="Calibri"/>
              </a:rPr>
              <a:t>  8 clips (25%)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happy -&gt; surprised</a:t>
            </a:r>
            <a:r>
              <a:rPr sz="1400">
                <a:solidFill>
                  <a:srgbClr val="1E293B"/>
                </a:solidFill>
                <a:latin typeface="Calibri"/>
              </a:rPr>
              <a:t>  8 clips (25%)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4F46E5"/>
                </a:solidFill>
              </a:rPr>
              <a:t>■  </a:t>
            </a:r>
            <a:r>
              <a:rPr b="1" sz="1400">
                <a:solidFill>
                  <a:srgbClr val="1E293B"/>
                </a:solidFill>
                <a:latin typeface="Calibri"/>
              </a:rPr>
              <a:t>sad -&gt; neutral</a:t>
            </a:r>
            <a:r>
              <a:rPr sz="1400">
                <a:solidFill>
                  <a:srgbClr val="1E293B"/>
                </a:solidFill>
                <a:latin typeface="Calibri"/>
              </a:rPr>
              <a:t>  8 clips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486400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Possible reasons (untested): similar low-energy delivery in sad / calm / neutral, shared high arousal between fearful / angry / happy, few training actors.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486400" cy="4572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64792"/>
            <a:ext cx="73152" cy="42428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Small, acted dataset (24 actors, 2 sentences)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Only 4 test actors: noisy estimate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Neutral class has half the clips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Test results were examined during comparisons of Experiments 1-3: test performance may be optimistic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No noise / cross-corpus / fairness tests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Experiment 4 is a single run (one seed)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303520" cy="45720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764792"/>
            <a:ext cx="73152" cy="42428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21992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Repeat Exp 3 vs 4 with several seeds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Actor-grouped cross-validation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SpecAugment, mixup, more corpora (TESS, CREMA-D)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Prosodic features / pre-trained speech encoders</a:t>
            </a:r>
          </a:p>
          <a:p>
            <a:pPr algn="l"/>
            <a:r>
              <a:rPr sz="1900" b="0">
                <a:solidFill>
                  <a:srgbClr val="1E293B"/>
                </a:solidFill>
                <a:latin typeface="Calibri"/>
              </a:rPr>
              <a:t>Real-time demo with privacy safeguards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Speech Emotion Recognition  |  MFCC + CNN-BiLSTM-Attention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766560" cy="457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Delivered</a:t>
            </a:r>
            <a:r>
              <a:rPr sz="1700">
                <a:solidFill>
                  <a:srgbClr val="1E293B"/>
                </a:solidFill>
                <a:latin typeface="Calibri"/>
              </a:rPr>
              <a:t>  every requirement: data, preprocessing, MFCC, deep model, F1 evaluation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Selected model</a:t>
            </a:r>
            <a:r>
              <a:rPr sz="1700">
                <a:solidFill>
                  <a:srgbClr val="1E293B"/>
                </a:solidFill>
                <a:latin typeface="Calibri"/>
              </a:rPr>
              <a:t>  Experiment 3 (79,080 parameters), chosen by validation Macro F1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Test result</a:t>
            </a:r>
            <a:r>
              <a:rPr sz="1700">
                <a:solidFill>
                  <a:srgbClr val="1E293B"/>
                </a:solidFill>
                <a:latin typeface="Calibri"/>
              </a:rPr>
              <a:t>  Macro F1 0.531, accuracy 56.7% on unseen actors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Baseline</a:t>
            </a:r>
            <a:r>
              <a:rPr sz="1700">
                <a:solidFill>
                  <a:srgbClr val="1E293B"/>
                </a:solidFill>
                <a:latin typeface="Calibri"/>
              </a:rPr>
              <a:t>  beats the tuned SVM (0.446) by +0.084 Macro F1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Honest view</a:t>
            </a:r>
            <a:r>
              <a:rPr sz="1700">
                <a:solidFill>
                  <a:srgbClr val="1E293B"/>
                </a:solidFill>
                <a:latin typeface="Calibri"/>
              </a:rPr>
              <a:t>  uneven across emotions; sad and fearful remain hard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4F46E5"/>
                </a:solidFill>
              </a:rPr>
              <a:t>■  </a:t>
            </a:r>
            <a:r>
              <a:rPr b="1" sz="1700">
                <a:solidFill>
                  <a:srgbClr val="1E293B"/>
                </a:solidFill>
                <a:latin typeface="Calibri"/>
              </a:rPr>
              <a:t>Reproducible</a:t>
            </a:r>
            <a:r>
              <a:rPr sz="1700">
                <a:solidFill>
                  <a:srgbClr val="1E293B"/>
                </a:solidFill>
                <a:latin typeface="Calibri"/>
              </a:rPr>
              <a:t>  seeds, tests, one-command evaluation and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749039" cy="4206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C7D2FE"/>
                </a:solidFill>
                <a:latin typeface="Calibri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2976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0E7FF"/>
                </a:solidFill>
                <a:latin typeface="Consolas"/>
              </a:rPr>
              <a:t>python predict.py clip.wav</a:t>
            </a:r>
          </a:p>
          <a:p>
            <a:pPr algn="ctr"/>
            <a:r>
              <a:rPr sz="1300" b="0">
                <a:solidFill>
                  <a:srgbClr val="E0E7FF"/>
                </a:solidFill>
                <a:latin typeface="Consolas"/>
              </a:rPr>
              <a:t>python summarize_results.py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